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880D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3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2C21DC-2BD4-42C4-9A99-96B5D2823869}" type="datetimeFigureOut">
              <a:rPr lang="fr-BE" smtClean="0"/>
              <a:t>11-12-25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4AE59D-4475-4153-93D0-C9560568FB5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24886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AE59D-4475-4153-93D0-C9560568FB5F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19311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E9276-205B-4F80-729F-A00DE0D3D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CC9DA08-D495-B7DB-ADED-895D6117B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B13B113-D067-C9D6-8221-522203D6E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41ED8B-E865-958B-E07E-FD107D4266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AE59D-4475-4153-93D0-C9560568FB5F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85651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5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315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925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45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894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75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22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157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151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84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23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347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ierre.poitier@unamur.be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151105-56F0-7D76-AF81-4785B3890C6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9689"/>
          <a:stretch>
            <a:fillRect/>
          </a:stretch>
        </p:blipFill>
        <p:spPr>
          <a:xfrm>
            <a:off x="20" y="0"/>
            <a:ext cx="12191980" cy="685784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25A36F2-74EC-19D4-F83D-1C619FC0C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11" y="91848"/>
            <a:ext cx="2730490" cy="89955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6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DessC2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CFC1F1E-07DE-DD0F-BAF7-F21AA4A6C5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025774"/>
            <a:ext cx="4439920" cy="11047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Lacroix Brian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441F4F2E-899D-DACE-9561-1E7323CD8A8A}"/>
              </a:ext>
            </a:extLst>
          </p:cNvPr>
          <p:cNvSpPr txBox="1"/>
          <p:nvPr/>
        </p:nvSpPr>
        <p:spPr>
          <a:xfrm>
            <a:off x="117475" y="991401"/>
            <a:ext cx="4962525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BE" dirty="0"/>
              <a:t>Client: Pierre Poitier (</a:t>
            </a:r>
            <a:r>
              <a:rPr lang="fr-BE" dirty="0">
                <a:hlinkClick r:id="rId3"/>
              </a:rPr>
              <a:t>pierre.poitier@unamur.be</a:t>
            </a:r>
            <a:r>
              <a:rPr lang="fr-BE" dirty="0"/>
              <a:t>)</a:t>
            </a:r>
          </a:p>
          <a:p>
            <a:pPr>
              <a:spcAft>
                <a:spcPts val="600"/>
              </a:spcAft>
            </a:pPr>
            <a:endParaRPr lang="fr-BE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A0AB4C1-FA0C-E3BF-5860-7CC63807E724}"/>
              </a:ext>
            </a:extLst>
          </p:cNvPr>
          <p:cNvSpPr txBox="1"/>
          <p:nvPr/>
        </p:nvSpPr>
        <p:spPr>
          <a:xfrm>
            <a:off x="3148213" y="160264"/>
            <a:ext cx="8677275" cy="629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BE" dirty="0"/>
              <a:t>Objectif: Créer un site web de dessin collaboratif</a:t>
            </a:r>
          </a:p>
          <a:p>
            <a:pPr>
              <a:spcAft>
                <a:spcPts val="600"/>
              </a:spcAft>
            </a:pPr>
            <a:r>
              <a:rPr lang="fr-BE" b="1" u="sng" dirty="0" err="1"/>
              <a:t>Requirements</a:t>
            </a:r>
            <a:r>
              <a:rPr lang="fr-BE" b="1" u="sng" dirty="0"/>
              <a:t> fonctionnels:</a:t>
            </a:r>
          </a:p>
          <a:p>
            <a:pPr>
              <a:spcAft>
                <a:spcPts val="600"/>
              </a:spcAft>
            </a:pPr>
            <a:r>
              <a:rPr lang="fr-FR" dirty="0"/>
              <a:t>Degré d'importance : Très important [ *** ] - Important [ ** ] - Secondaire [*]· </a:t>
            </a:r>
          </a:p>
          <a:p>
            <a:pPr>
              <a:spcAft>
                <a:spcPts val="600"/>
              </a:spcAft>
            </a:pPr>
            <a:r>
              <a:rPr lang="fr-FR" dirty="0"/>
              <a:t>[ *** ] Être capable de dessiner sur une page web· </a:t>
            </a:r>
            <a:br>
              <a:rPr lang="fr-FR" dirty="0"/>
            </a:br>
            <a:r>
              <a:rPr lang="fr-FR" dirty="0"/>
              <a:t>[ *** ] Synchronisation en direct des dessins de tout le monde· </a:t>
            </a:r>
            <a:br>
              <a:rPr lang="fr-FR" dirty="0"/>
            </a:br>
            <a:r>
              <a:rPr lang="fr-FR" dirty="0"/>
              <a:t>[ *** ] Possibilité d'annuler sa dernière action (CTRL - Z)· </a:t>
            </a:r>
            <a:br>
              <a:rPr lang="fr-FR" dirty="0"/>
            </a:br>
            <a:r>
              <a:rPr lang="fr-FR" dirty="0"/>
              <a:t>[ *** ] Système de calques· </a:t>
            </a:r>
            <a:br>
              <a:rPr lang="fr-FR" dirty="0"/>
            </a:br>
            <a:r>
              <a:rPr lang="fr-FR" dirty="0"/>
              <a:t>[ ** ] Tchat écrit· </a:t>
            </a:r>
            <a:br>
              <a:rPr lang="fr-FR" dirty="0"/>
            </a:br>
            <a:r>
              <a:rPr lang="fr-FR" dirty="0"/>
              <a:t>[ ** ] Formes basiques (lignes, rectangles, ovales, courbe)· </a:t>
            </a:r>
            <a:br>
              <a:rPr lang="fr-FR" dirty="0"/>
            </a:br>
            <a:r>
              <a:rPr lang="fr-FR" dirty="0"/>
              <a:t>[ ** ] Pinceaux (taille, pattern, opacité, couleur)· </a:t>
            </a:r>
            <a:br>
              <a:rPr lang="fr-FR" dirty="0"/>
            </a:br>
            <a:r>
              <a:rPr lang="fr-FR" dirty="0"/>
              <a:t>[*] Rejouer l'historique des dessins sur la page· </a:t>
            </a:r>
            <a:br>
              <a:rPr lang="fr-FR" dirty="0"/>
            </a:br>
            <a:r>
              <a:rPr lang="fr-FR" dirty="0"/>
              <a:t>[*] Inscription et connexion· </a:t>
            </a:r>
            <a:br>
              <a:rPr lang="fr-FR" dirty="0"/>
            </a:br>
            <a:r>
              <a:rPr lang="fr-FR" dirty="0"/>
              <a:t>[*] Sauvegarde du dessin dans différents formats· </a:t>
            </a:r>
            <a:br>
              <a:rPr lang="fr-FR" dirty="0"/>
            </a:br>
            <a:r>
              <a:rPr lang="fr-FR" dirty="0"/>
              <a:t>[*] Pouvoir incorporer des images dans le dessin</a:t>
            </a:r>
            <a:endParaRPr lang="fr-BE" dirty="0"/>
          </a:p>
          <a:p>
            <a:pPr>
              <a:spcAft>
                <a:spcPts val="600"/>
              </a:spcAft>
            </a:pPr>
            <a:r>
              <a:rPr lang="fr-FR" b="1" u="sng" dirty="0" err="1"/>
              <a:t>Requirements</a:t>
            </a:r>
            <a:r>
              <a:rPr lang="fr-FR" b="1" u="sng" dirty="0"/>
              <a:t> non-fonctionnels</a:t>
            </a:r>
            <a:r>
              <a:rPr lang="fr-BE" b="1" u="sng" dirty="0"/>
              <a:t>:</a:t>
            </a:r>
            <a:endParaRPr lang="fr-FR" b="1" u="sng" dirty="0"/>
          </a:p>
          <a:p>
            <a:pPr>
              <a:spcAft>
                <a:spcPts val="600"/>
              </a:spcAft>
            </a:pPr>
            <a:r>
              <a:rPr lang="fr-FR" dirty="0"/>
              <a:t>[ *** ] Documentation technique· </a:t>
            </a:r>
            <a:br>
              <a:rPr lang="fr-FR" dirty="0"/>
            </a:br>
            <a:r>
              <a:rPr lang="fr-FR" dirty="0"/>
              <a:t>[ *** ] Modularité et qualité du code· </a:t>
            </a:r>
            <a:br>
              <a:rPr lang="fr-FR" dirty="0"/>
            </a:br>
            <a:r>
              <a:rPr lang="fr-FR" dirty="0"/>
              <a:t>[ ** ] Aspect général· </a:t>
            </a:r>
            <a:br>
              <a:rPr lang="fr-FR" dirty="0"/>
            </a:br>
            <a:r>
              <a:rPr lang="fr-FR" dirty="0"/>
              <a:t>[ ** ] Fluidité· </a:t>
            </a:r>
            <a:br>
              <a:rPr lang="fr-FR" dirty="0"/>
            </a:br>
            <a:r>
              <a:rPr lang="fr-FR" dirty="0"/>
              <a:t>[ ** ] Simplicité· </a:t>
            </a:r>
            <a:br>
              <a:rPr lang="fr-FR" dirty="0"/>
            </a:br>
            <a:r>
              <a:rPr lang="fr-FR" dirty="0"/>
              <a:t>[*] Animations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50467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1AEF5E-A00F-83E9-01E7-817829FC6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57EAF53-23EE-5C3A-2C43-E5D17192C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E60878-F309-5070-D64B-E731679EDF7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29689"/>
          <a:stretch>
            <a:fillRect/>
          </a:stretch>
        </p:blipFill>
        <p:spPr>
          <a:xfrm>
            <a:off x="0" y="152"/>
            <a:ext cx="12191980" cy="685784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639B290-EE78-E3D9-04E6-99E218417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25680-80AE-0429-2626-275F5B6984A8}"/>
              </a:ext>
            </a:extLst>
          </p:cNvPr>
          <p:cNvSpPr/>
          <p:nvPr/>
        </p:nvSpPr>
        <p:spPr>
          <a:xfrm>
            <a:off x="523875" y="4743450"/>
            <a:ext cx="1409700" cy="523875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0426F7E-4949-1DD7-44F3-95AF684C2747}"/>
              </a:ext>
            </a:extLst>
          </p:cNvPr>
          <p:cNvSpPr txBox="1"/>
          <p:nvPr/>
        </p:nvSpPr>
        <p:spPr>
          <a:xfrm>
            <a:off x="-20" y="143485"/>
            <a:ext cx="12191980" cy="570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BE" sz="2000" dirty="0"/>
              <a:t>Objectif: Créer un site web de dessin collaboratif</a:t>
            </a:r>
          </a:p>
          <a:p>
            <a:pPr>
              <a:spcAft>
                <a:spcPts val="600"/>
              </a:spcAft>
            </a:pPr>
            <a:r>
              <a:rPr lang="fr-BE" sz="2000" dirty="0" err="1"/>
              <a:t>Requirements</a:t>
            </a:r>
            <a:r>
              <a:rPr lang="fr-BE" sz="2000" dirty="0"/>
              <a:t> fonctionnels:</a:t>
            </a:r>
          </a:p>
          <a:p>
            <a:pPr>
              <a:spcAft>
                <a:spcPts val="600"/>
              </a:spcAft>
            </a:pPr>
            <a:r>
              <a:rPr lang="fr-FR" sz="2000" dirty="0"/>
              <a:t>Degré d'importance : Très important [ *** ] - Important [ ** ] - Secondaire [*]· </a:t>
            </a:r>
          </a:p>
          <a:p>
            <a:pPr>
              <a:spcAft>
                <a:spcPts val="600"/>
              </a:spcAft>
            </a:pPr>
            <a:r>
              <a:rPr lang="fr-FR" sz="2000" dirty="0">
                <a:highlight>
                  <a:srgbClr val="00FF00"/>
                </a:highlight>
              </a:rPr>
              <a:t>[ *** ] </a:t>
            </a:r>
            <a:r>
              <a:rPr lang="fr-FR" sz="2000" dirty="0">
                <a:solidFill>
                  <a:schemeClr val="bg1"/>
                </a:solidFill>
                <a:highlight>
                  <a:srgbClr val="00FF00"/>
                </a:highlight>
              </a:rPr>
              <a:t>Être capable de dessiner sur une page web</a:t>
            </a:r>
            <a:br>
              <a:rPr lang="fr-FR" sz="2000" dirty="0"/>
            </a:br>
            <a:r>
              <a:rPr lang="fr-FR" sz="2000" dirty="0">
                <a:highlight>
                  <a:srgbClr val="FF0000"/>
                </a:highlight>
              </a:rPr>
              <a:t>[ *** ] Synchronisation en direct des dessins de tout le monde </a:t>
            </a:r>
            <a:br>
              <a:rPr lang="fr-FR" sz="2000" dirty="0"/>
            </a:br>
            <a:r>
              <a:rPr lang="fr-FR" sz="2000" dirty="0">
                <a:highlight>
                  <a:srgbClr val="F7880D"/>
                </a:highlight>
              </a:rPr>
              <a:t>[ *** ] </a:t>
            </a:r>
            <a:r>
              <a:rPr lang="fr-FR" sz="2000" dirty="0">
                <a:solidFill>
                  <a:schemeClr val="bg1"/>
                </a:solidFill>
                <a:highlight>
                  <a:srgbClr val="F7880D"/>
                </a:highlight>
              </a:rPr>
              <a:t>Possibilité d'annuler sa dernière action (CTRL - Z) </a:t>
            </a:r>
            <a:r>
              <a:rPr lang="fr-FR" sz="2000" dirty="0"/>
              <a:t>=&gt; Possibilité d’annuler la dernière action du calque pour l’instant</a:t>
            </a:r>
            <a:br>
              <a:rPr lang="fr-FR" sz="2000" dirty="0"/>
            </a:br>
            <a:r>
              <a:rPr lang="fr-FR" sz="2000" dirty="0">
                <a:highlight>
                  <a:srgbClr val="00FF00"/>
                </a:highlight>
              </a:rPr>
              <a:t>[ *** ] </a:t>
            </a:r>
            <a:r>
              <a:rPr lang="fr-FR" sz="2000" dirty="0">
                <a:solidFill>
                  <a:schemeClr val="bg1"/>
                </a:solidFill>
                <a:highlight>
                  <a:srgbClr val="00FF00"/>
                </a:highlight>
              </a:rPr>
              <a:t>Système de calques</a:t>
            </a:r>
            <a:br>
              <a:rPr lang="fr-FR" sz="2000" dirty="0"/>
            </a:br>
            <a:r>
              <a:rPr lang="fr-FR" sz="2000" dirty="0">
                <a:highlight>
                  <a:srgbClr val="FF0000"/>
                </a:highlight>
              </a:rPr>
              <a:t>[ ** ] Tchat écrit</a:t>
            </a:r>
            <a:br>
              <a:rPr lang="fr-FR" sz="2000" dirty="0"/>
            </a:br>
            <a:r>
              <a:rPr lang="fr-FR" sz="2000" dirty="0">
                <a:highlight>
                  <a:srgbClr val="00FF00"/>
                </a:highlight>
              </a:rPr>
              <a:t>[ ** ] </a:t>
            </a:r>
            <a:r>
              <a:rPr lang="fr-FR" sz="2000" dirty="0">
                <a:solidFill>
                  <a:schemeClr val="bg1"/>
                </a:solidFill>
                <a:highlight>
                  <a:srgbClr val="00FF00"/>
                </a:highlight>
              </a:rPr>
              <a:t>Formes basiques (lignes, rectangles, ovales, courbe)</a:t>
            </a:r>
            <a:br>
              <a:rPr lang="fr-FR" sz="2000" dirty="0"/>
            </a:br>
            <a:r>
              <a:rPr lang="fr-FR" sz="2000" dirty="0">
                <a:highlight>
                  <a:srgbClr val="00FF00"/>
                </a:highlight>
              </a:rPr>
              <a:t>[ ** ] </a:t>
            </a:r>
            <a:r>
              <a:rPr lang="fr-FR" sz="2000" dirty="0">
                <a:solidFill>
                  <a:schemeClr val="bg1"/>
                </a:solidFill>
                <a:highlight>
                  <a:srgbClr val="00FF00"/>
                </a:highlight>
              </a:rPr>
              <a:t>Pinceaux (taille, </a:t>
            </a:r>
            <a:r>
              <a:rPr lang="fr-FR" sz="2000" dirty="0">
                <a:highlight>
                  <a:srgbClr val="FF0000"/>
                </a:highlight>
              </a:rPr>
              <a:t>pattern</a:t>
            </a:r>
            <a:r>
              <a:rPr lang="fr-FR" sz="2000" dirty="0">
                <a:highlight>
                  <a:srgbClr val="00FF00"/>
                </a:highlight>
              </a:rPr>
              <a:t>, </a:t>
            </a:r>
            <a:r>
              <a:rPr lang="fr-FR" sz="2000" dirty="0">
                <a:solidFill>
                  <a:schemeClr val="bg1"/>
                </a:solidFill>
                <a:highlight>
                  <a:srgbClr val="00FF00"/>
                </a:highlight>
              </a:rPr>
              <a:t>opacité, couleur)</a:t>
            </a:r>
            <a:br>
              <a:rPr lang="fr-FR" sz="2000" dirty="0"/>
            </a:br>
            <a:r>
              <a:rPr lang="fr-FR" sz="2000" dirty="0">
                <a:highlight>
                  <a:srgbClr val="FF0000"/>
                </a:highlight>
              </a:rPr>
              <a:t>[*] Rejouer l'historique des dessins sur la page</a:t>
            </a:r>
            <a:br>
              <a:rPr lang="fr-FR" sz="2000" dirty="0"/>
            </a:br>
            <a:r>
              <a:rPr lang="fr-FR" sz="2000" dirty="0">
                <a:highlight>
                  <a:srgbClr val="FF0000"/>
                </a:highlight>
              </a:rPr>
              <a:t>[*] Inscription et connexion</a:t>
            </a:r>
            <a:br>
              <a:rPr lang="fr-FR" sz="2000" dirty="0"/>
            </a:br>
            <a:r>
              <a:rPr lang="fr-FR" sz="2000" dirty="0">
                <a:highlight>
                  <a:srgbClr val="F7880D"/>
                </a:highlight>
              </a:rPr>
              <a:t>[*] </a:t>
            </a:r>
            <a:r>
              <a:rPr lang="fr-FR" sz="2000" dirty="0">
                <a:solidFill>
                  <a:schemeClr val="bg1"/>
                </a:solidFill>
                <a:highlight>
                  <a:srgbClr val="F7880D"/>
                </a:highlight>
              </a:rPr>
              <a:t>Sauvegarde du dessin dans différents formats </a:t>
            </a:r>
            <a:r>
              <a:rPr lang="fr-FR" sz="2000" dirty="0"/>
              <a:t>=&gt; en Png seulement pour l’instant</a:t>
            </a:r>
            <a:br>
              <a:rPr lang="fr-FR" sz="2000" dirty="0"/>
            </a:br>
            <a:r>
              <a:rPr lang="fr-FR" sz="2000" dirty="0">
                <a:highlight>
                  <a:srgbClr val="FF0000"/>
                </a:highlight>
              </a:rPr>
              <a:t>[*] Pouvoir incorporer des images dans le dessin</a:t>
            </a:r>
          </a:p>
          <a:p>
            <a:pPr>
              <a:spcAft>
                <a:spcPts val="600"/>
              </a:spcAft>
            </a:pPr>
            <a:r>
              <a:rPr lang="fr-FR" sz="2000" dirty="0"/>
              <a:t>Nbr de ligne de code actuel: +- 600</a:t>
            </a:r>
          </a:p>
          <a:p>
            <a:pPr>
              <a:spcAft>
                <a:spcPts val="600"/>
              </a:spcAft>
            </a:pPr>
            <a:r>
              <a:rPr lang="fr-BE" sz="2000" dirty="0"/>
              <a:t>Nbr de ligne de code estimé: +- 2500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195208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FBB956-EE7F-43B9-222D-08EF24A8D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3FC3138-778C-8FC7-7F9E-607A7DAE7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9B69C-F9DE-B907-C217-964C1180473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29689"/>
          <a:stretch>
            <a:fillRect/>
          </a:stretch>
        </p:blipFill>
        <p:spPr>
          <a:xfrm>
            <a:off x="0" y="152"/>
            <a:ext cx="12191980" cy="685784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85B0BE2-7C9F-4A93-4338-C2C06A98D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F37CC77-A5FB-FABE-F161-68D99C85AC82}"/>
              </a:ext>
            </a:extLst>
          </p:cNvPr>
          <p:cNvSpPr/>
          <p:nvPr/>
        </p:nvSpPr>
        <p:spPr>
          <a:xfrm>
            <a:off x="523875" y="4743450"/>
            <a:ext cx="1409700" cy="523875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7" name="Image 6" descr="Une image contenant capture d’écran, texte, Logiciel multimédia, Logiciel de graphisme&#10;&#10;Le contenu généré par l’IA peut être incorrect.">
            <a:extLst>
              <a:ext uri="{FF2B5EF4-FFF2-40B4-BE49-F238E27FC236}">
                <a16:creationId xmlns:a16="http://schemas.microsoft.com/office/drawing/2014/main" id="{88360FD6-3B75-EB79-5CB1-E7E601D6CF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"/>
            <a:ext cx="12192000" cy="478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777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378</Words>
  <Application>Microsoft Office PowerPoint</Application>
  <PresentationFormat>Grand écran</PresentationFormat>
  <Paragraphs>17</Paragraphs>
  <Slides>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Aptos</vt:lpstr>
      <vt:lpstr>Arial</vt:lpstr>
      <vt:lpstr>Grandview Display</vt:lpstr>
      <vt:lpstr>DashVTI</vt:lpstr>
      <vt:lpstr>DessC2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LACROIX</dc:creator>
  <cp:lastModifiedBy>Brian LACROIX</cp:lastModifiedBy>
  <cp:revision>10</cp:revision>
  <dcterms:created xsi:type="dcterms:W3CDTF">2025-11-26T21:04:32Z</dcterms:created>
  <dcterms:modified xsi:type="dcterms:W3CDTF">2025-12-11T18:17:33Z</dcterms:modified>
</cp:coreProperties>
</file>